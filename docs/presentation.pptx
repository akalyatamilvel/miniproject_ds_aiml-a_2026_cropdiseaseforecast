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64724-3D90-DEFA-6A45-0BCB669CC7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308F7D-DB24-C397-B4F2-D980827C4E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D7E11C-81BD-664A-F2A5-E32C1AFE3E6E}"/>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5" name="Footer Placeholder 4">
            <a:extLst>
              <a:ext uri="{FF2B5EF4-FFF2-40B4-BE49-F238E27FC236}">
                <a16:creationId xmlns:a16="http://schemas.microsoft.com/office/drawing/2014/main" id="{1DED0F2D-8E4B-D4DF-D92C-0290C9161D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15020D-2E75-765E-8E5F-342F007B4E15}"/>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227910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9AA74-DDD4-A1B1-E773-90AFC5610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5ADFE0-9031-DE3B-DF7B-A026DE576B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C641BF-907E-564E-1DFD-FA63E24930C8}"/>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5" name="Footer Placeholder 4">
            <a:extLst>
              <a:ext uri="{FF2B5EF4-FFF2-40B4-BE49-F238E27FC236}">
                <a16:creationId xmlns:a16="http://schemas.microsoft.com/office/drawing/2014/main" id="{CC0348FD-D18E-C968-05B3-DDDE4095FF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748C4E-8363-D43D-5BE7-F1F0B4234E44}"/>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2447068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6F368-522E-7A77-7BDF-CA8E3344C8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49801F-E39B-B08B-B6E0-722B16E251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F413CF-FA5B-F901-7726-12990698A5BC}"/>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5" name="Footer Placeholder 4">
            <a:extLst>
              <a:ext uri="{FF2B5EF4-FFF2-40B4-BE49-F238E27FC236}">
                <a16:creationId xmlns:a16="http://schemas.microsoft.com/office/drawing/2014/main" id="{901B85FB-5919-9A8A-745B-EB3FACB22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C8CF41-22A7-26B6-8F4A-CF96287C68EC}"/>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356433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0D649-CCFB-8BDA-11CA-8A9309467C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389E58-7127-34E8-336E-B612D1E752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D6ED35-124C-568A-641F-EC044A73DD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58FDA7-3225-8A2C-500F-FE2D0BDE782D}"/>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6" name="Footer Placeholder 5">
            <a:extLst>
              <a:ext uri="{FF2B5EF4-FFF2-40B4-BE49-F238E27FC236}">
                <a16:creationId xmlns:a16="http://schemas.microsoft.com/office/drawing/2014/main" id="{F1107388-3419-8ED3-756F-6ED43DBA9A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4A1DD-F736-BD39-534E-EC1740928FAB}"/>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3333508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1453-5968-4AC7-EED0-23B19DE268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879300-46E9-242A-93B4-167D446732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4810D8-AAC3-968F-6714-459DBC689E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415265-6839-7698-62C1-CF40EA9AD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9047A2-AC57-C2BE-4E46-9351CF82FF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7F87B9-F719-C466-3D66-571724CB2CFA}"/>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8" name="Footer Placeholder 7">
            <a:extLst>
              <a:ext uri="{FF2B5EF4-FFF2-40B4-BE49-F238E27FC236}">
                <a16:creationId xmlns:a16="http://schemas.microsoft.com/office/drawing/2014/main" id="{4CC4C983-9035-B924-E382-356CFF3BCF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3F8712-C591-4F8F-CA5C-CC5CE8EB4FE0}"/>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1714450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98A5-9EA9-FA98-6339-66246708A5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AE49EA-C2F8-C6B8-65F8-64584D5907F4}"/>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4" name="Footer Placeholder 3">
            <a:extLst>
              <a:ext uri="{FF2B5EF4-FFF2-40B4-BE49-F238E27FC236}">
                <a16:creationId xmlns:a16="http://schemas.microsoft.com/office/drawing/2014/main" id="{D199EE48-A42E-9E6F-2A7A-7CA36C7CCE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E76F16-BC44-3B59-AE47-2F1C2468FDB2}"/>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4207538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7F5E1D-752F-4F17-8E56-A0151BC7363A}"/>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3" name="Footer Placeholder 2">
            <a:extLst>
              <a:ext uri="{FF2B5EF4-FFF2-40B4-BE49-F238E27FC236}">
                <a16:creationId xmlns:a16="http://schemas.microsoft.com/office/drawing/2014/main" id="{2EC1BD57-F8CA-1CA5-C8C9-117CCA2FA1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BD89BE-DD4B-5733-07B2-F04D16467FCD}"/>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2619742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DA6EC-41C5-4C2B-C1FE-516F5E763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32F365-7C2D-1AC6-A189-FA5280F651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9CC489-80D2-A13C-AD3C-E4C4C8B06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B23039-0229-2F13-7F7C-FBCD39F1E944}"/>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6" name="Footer Placeholder 5">
            <a:extLst>
              <a:ext uri="{FF2B5EF4-FFF2-40B4-BE49-F238E27FC236}">
                <a16:creationId xmlns:a16="http://schemas.microsoft.com/office/drawing/2014/main" id="{489F033F-DE43-BFB6-0D69-071C5A6DA0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42D991-9F26-13B1-4A1B-BC60DD640D6F}"/>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1959140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18FD-891A-0ABA-E732-1AC46B5F10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411D351-0717-4E48-DC40-80FD761290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37782A-B1C9-C907-2892-40044E0120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304191-C400-330F-2306-E4AD5D1E401E}"/>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6" name="Footer Placeholder 5">
            <a:extLst>
              <a:ext uri="{FF2B5EF4-FFF2-40B4-BE49-F238E27FC236}">
                <a16:creationId xmlns:a16="http://schemas.microsoft.com/office/drawing/2014/main" id="{CF151F3C-8D58-3A42-AB4E-D0F169FC6E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A86789-8838-6FD3-BFA8-F37B38A8F0F4}"/>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404603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F27E-95DD-D376-061B-668DB4AAE7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923239-6AA8-7C5E-820A-1C955426B5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645A47-3B36-40BB-E369-06AEC4647146}"/>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5" name="Footer Placeholder 4">
            <a:extLst>
              <a:ext uri="{FF2B5EF4-FFF2-40B4-BE49-F238E27FC236}">
                <a16:creationId xmlns:a16="http://schemas.microsoft.com/office/drawing/2014/main" id="{DEF756D5-7FC2-7B05-813D-456DB44AAE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58DDC9-83D8-E28D-9671-78DC0F2A8ACC}"/>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3888341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ABBF61-FD9B-7058-226A-6BAF8275C0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1F88F5-D16A-E30A-A955-ACE02AE577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0132A6-0EA1-10BB-AAC9-3904C09F4147}"/>
              </a:ext>
            </a:extLst>
          </p:cNvPr>
          <p:cNvSpPr>
            <a:spLocks noGrp="1"/>
          </p:cNvSpPr>
          <p:nvPr>
            <p:ph type="dt" sz="half" idx="10"/>
          </p:nvPr>
        </p:nvSpPr>
        <p:spPr/>
        <p:txBody>
          <a:bodyPr/>
          <a:lstStyle/>
          <a:p>
            <a:fld id="{F7ADFB0B-A143-4C5E-A319-637F8A3D4F8E}" type="datetimeFigureOut">
              <a:rPr lang="en-IN" smtClean="0"/>
              <a:t>31-03-2026</a:t>
            </a:fld>
            <a:endParaRPr lang="en-IN"/>
          </a:p>
        </p:txBody>
      </p:sp>
      <p:sp>
        <p:nvSpPr>
          <p:cNvPr id="5" name="Footer Placeholder 4">
            <a:extLst>
              <a:ext uri="{FF2B5EF4-FFF2-40B4-BE49-F238E27FC236}">
                <a16:creationId xmlns:a16="http://schemas.microsoft.com/office/drawing/2014/main" id="{D4CC7E31-05B3-73AC-847B-D41792732F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B0BD89-9A4D-E4D7-A1B3-6669EC7523D7}"/>
              </a:ext>
            </a:extLst>
          </p:cNvPr>
          <p:cNvSpPr>
            <a:spLocks noGrp="1"/>
          </p:cNvSpPr>
          <p:nvPr>
            <p:ph type="sldNum" sz="quarter" idx="12"/>
          </p:nvPr>
        </p:nvSpPr>
        <p:spPr/>
        <p:txBody>
          <a:bodyPr/>
          <a:lstStyle/>
          <a:p>
            <a:fld id="{08134B78-75EC-418E-AC68-D3E4C0F248D1}" type="slidenum">
              <a:rPr lang="en-IN" smtClean="0"/>
              <a:t>‹#›</a:t>
            </a:fld>
            <a:endParaRPr lang="en-IN"/>
          </a:p>
        </p:txBody>
      </p:sp>
    </p:spTree>
    <p:extLst>
      <p:ext uri="{BB962C8B-B14F-4D97-AF65-F5344CB8AC3E}">
        <p14:creationId xmlns:p14="http://schemas.microsoft.com/office/powerpoint/2010/main" val="67360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F4993F-191C-EF7F-2BFB-759C770D85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8512AA-8F6E-0200-52A5-4B58976BDF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51F040-84FB-EAC3-44FC-76D6DCA9F2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ADFB0B-A143-4C5E-A319-637F8A3D4F8E}" type="datetimeFigureOut">
              <a:rPr lang="en-IN" smtClean="0"/>
              <a:t>31-03-2026</a:t>
            </a:fld>
            <a:endParaRPr lang="en-IN"/>
          </a:p>
        </p:txBody>
      </p:sp>
      <p:sp>
        <p:nvSpPr>
          <p:cNvPr id="5" name="Footer Placeholder 4">
            <a:extLst>
              <a:ext uri="{FF2B5EF4-FFF2-40B4-BE49-F238E27FC236}">
                <a16:creationId xmlns:a16="http://schemas.microsoft.com/office/drawing/2014/main" id="{2839A5C2-B600-4F97-6BAD-A41A225869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64D1C3-E4D8-083D-D650-03B61C8903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134B78-75EC-418E-AC68-D3E4C0F248D1}" type="slidenum">
              <a:rPr lang="en-IN" smtClean="0"/>
              <a:t>‹#›</a:t>
            </a:fld>
            <a:endParaRPr lang="en-IN"/>
          </a:p>
        </p:txBody>
      </p:sp>
    </p:spTree>
    <p:extLst>
      <p:ext uri="{BB962C8B-B14F-4D97-AF65-F5344CB8AC3E}">
        <p14:creationId xmlns:p14="http://schemas.microsoft.com/office/powerpoint/2010/main" val="270369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akalyatamilvel/MiniProject_DS_AIML-A_2026_CropDiseaseForecas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940F2-29BA-0993-CA72-501204A85BF1}"/>
              </a:ext>
            </a:extLst>
          </p:cNvPr>
          <p:cNvSpPr>
            <a:spLocks noGrp="1"/>
          </p:cNvSpPr>
          <p:nvPr>
            <p:ph type="ctrTitle"/>
          </p:nvPr>
        </p:nvSpPr>
        <p:spPr>
          <a:xfrm>
            <a:off x="1273277" y="1274250"/>
            <a:ext cx="9645445" cy="1738824"/>
          </a:xfrm>
        </p:spPr>
        <p:txBody>
          <a:bodyPr>
            <a:noAutofit/>
          </a:bodyPr>
          <a:lstStyle/>
          <a:p>
            <a:r>
              <a:rPr lang="en-IN" sz="4600" b="1" dirty="0" err="1">
                <a:latin typeface="Times New Roman" panose="02020603050405020304" pitchFamily="18" charset="0"/>
                <a:cs typeface="Times New Roman" panose="02020603050405020304" pitchFamily="18" charset="0"/>
              </a:rPr>
              <a:t>CropDisease</a:t>
            </a:r>
            <a:r>
              <a:rPr lang="en-IN" sz="4600" b="1" dirty="0">
                <a:latin typeface="Times New Roman" panose="02020603050405020304" pitchFamily="18" charset="0"/>
                <a:cs typeface="Times New Roman" panose="02020603050405020304" pitchFamily="18" charset="0"/>
              </a:rPr>
              <a:t> Forecast</a:t>
            </a:r>
            <a:br>
              <a:rPr lang="en-IN" sz="4600" b="1" dirty="0">
                <a:latin typeface="Times New Roman" panose="02020603050405020304" pitchFamily="18" charset="0"/>
                <a:cs typeface="Times New Roman" panose="02020603050405020304" pitchFamily="18" charset="0"/>
              </a:rPr>
            </a:br>
            <a:r>
              <a:rPr lang="en-IN" sz="4600" b="1" dirty="0">
                <a:latin typeface="Times New Roman" panose="02020603050405020304" pitchFamily="18" charset="0"/>
                <a:cs typeface="Times New Roman" panose="02020603050405020304" pitchFamily="18" charset="0"/>
              </a:rPr>
              <a:t>Predicting Crop Disease Outbreaks Using Climate Data</a:t>
            </a:r>
          </a:p>
        </p:txBody>
      </p:sp>
      <p:sp>
        <p:nvSpPr>
          <p:cNvPr id="3" name="Subtitle 2">
            <a:extLst>
              <a:ext uri="{FF2B5EF4-FFF2-40B4-BE49-F238E27FC236}">
                <a16:creationId xmlns:a16="http://schemas.microsoft.com/office/drawing/2014/main" id="{CEFB34C4-4927-779D-3A65-C37DB4C0D6CE}"/>
              </a:ext>
            </a:extLst>
          </p:cNvPr>
          <p:cNvSpPr>
            <a:spLocks noGrp="1"/>
          </p:cNvSpPr>
          <p:nvPr>
            <p:ph type="subTitle" idx="1"/>
          </p:nvPr>
        </p:nvSpPr>
        <p:spPr>
          <a:xfrm>
            <a:off x="1524000" y="3927988"/>
            <a:ext cx="9144000" cy="1655762"/>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Team Members: Akalya </a:t>
            </a:r>
            <a:r>
              <a:rPr lang="en-IN" dirty="0" err="1">
                <a:latin typeface="Times New Roman" panose="02020603050405020304" pitchFamily="18" charset="0"/>
                <a:cs typeface="Times New Roman" panose="02020603050405020304" pitchFamily="18" charset="0"/>
              </a:rPr>
              <a:t>Tamilvel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Senbakam</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Sachitha Ravichandran</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Class: AIML-A</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927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16C0D-AB1C-DD23-1562-4A78B9637663}"/>
              </a:ext>
            </a:extLst>
          </p:cNvPr>
          <p:cNvSpPr>
            <a:spLocks noGrp="1"/>
          </p:cNvSpPr>
          <p:nvPr>
            <p:ph type="title"/>
          </p:nvPr>
        </p:nvSpPr>
        <p:spPr/>
        <p:txBody>
          <a:bodyPr/>
          <a:lstStyle/>
          <a:p>
            <a:r>
              <a:rPr lang="en-IN" b="1" dirty="0"/>
              <a:t>Problem</a:t>
            </a:r>
            <a:r>
              <a:rPr lang="en-IN" dirty="0"/>
              <a:t> </a:t>
            </a:r>
            <a:r>
              <a:rPr lang="en-IN" b="1" dirty="0"/>
              <a:t>Statement</a:t>
            </a:r>
          </a:p>
        </p:txBody>
      </p:sp>
      <p:sp>
        <p:nvSpPr>
          <p:cNvPr id="3" name="Content Placeholder 2">
            <a:extLst>
              <a:ext uri="{FF2B5EF4-FFF2-40B4-BE49-F238E27FC236}">
                <a16:creationId xmlns:a16="http://schemas.microsoft.com/office/drawing/2014/main" id="{D0B801CC-275F-EE81-9EED-1B5F3CA42FD1}"/>
              </a:ext>
            </a:extLst>
          </p:cNvPr>
          <p:cNvSpPr>
            <a:spLocks noGrp="1"/>
          </p:cNvSpPr>
          <p:nvPr>
            <p:ph idx="1"/>
          </p:nvPr>
        </p:nvSpPr>
        <p:spPr/>
        <p:txBody>
          <a:bodyPr/>
          <a:lstStyle/>
          <a:p>
            <a:r>
              <a:rPr lang="en-US" dirty="0"/>
              <a:t>The dataset used in this project consists of climate data and crop disease data collected from different sources. Climate data was collected from the Open-</a:t>
            </a:r>
            <a:r>
              <a:rPr lang="en-US" dirty="0" err="1"/>
              <a:t>Meteo</a:t>
            </a:r>
            <a:r>
              <a:rPr lang="en-US" dirty="0"/>
              <a:t> API, and disease data was collected from agricultural datasets such as ICRISAT.</a:t>
            </a:r>
          </a:p>
          <a:p>
            <a:r>
              <a:rPr lang="en-US" dirty="0"/>
              <a:t>The dataset contains four years of data from 2020 to 2023 for the Thanjavur region in Tamil Nadu. The features used in this project include temperature, humidity, rainfall, and wind speed.</a:t>
            </a:r>
          </a:p>
          <a:p>
            <a:r>
              <a:rPr lang="en-US" dirty="0"/>
              <a:t>These features were used to analyze climate patterns and their relationship with crop disease outbreaks.</a:t>
            </a:r>
          </a:p>
          <a:p>
            <a:endParaRPr lang="en-IN" dirty="0"/>
          </a:p>
        </p:txBody>
      </p:sp>
    </p:spTree>
    <p:extLst>
      <p:ext uri="{BB962C8B-B14F-4D97-AF65-F5344CB8AC3E}">
        <p14:creationId xmlns:p14="http://schemas.microsoft.com/office/powerpoint/2010/main" val="1476401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F77A-DC61-FEB1-A1E5-97C880F7A49C}"/>
              </a:ext>
            </a:extLst>
          </p:cNvPr>
          <p:cNvSpPr>
            <a:spLocks noGrp="1"/>
          </p:cNvSpPr>
          <p:nvPr>
            <p:ph type="title"/>
          </p:nvPr>
        </p:nvSpPr>
        <p:spPr/>
        <p:txBody>
          <a:bodyPr/>
          <a:lstStyle/>
          <a:p>
            <a:r>
              <a:rPr lang="en-IN" b="1" dirty="0">
                <a:latin typeface="+mn-lt"/>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AC84626F-DAFE-116D-E79D-EDA3739B655E}"/>
              </a:ext>
            </a:extLst>
          </p:cNvPr>
          <p:cNvSpPr>
            <a:spLocks noGrp="1"/>
          </p:cNvSpPr>
          <p:nvPr>
            <p:ph idx="1"/>
          </p:nvPr>
        </p:nvSpPr>
        <p:spPr/>
        <p:txBody>
          <a:bodyPr>
            <a:normAutofit/>
          </a:bodyPr>
          <a:lstStyle/>
          <a:p>
            <a:r>
              <a:rPr lang="en-US" dirty="0"/>
              <a:t>The dataset used in this project consists of climate data and crop disease data collected from different sources. Climate data was collected from the </a:t>
            </a:r>
            <a:r>
              <a:rPr lang="en-US" b="1" dirty="0"/>
              <a:t>Open-</a:t>
            </a:r>
            <a:r>
              <a:rPr lang="en-US" b="1" dirty="0" err="1"/>
              <a:t>Meteo</a:t>
            </a:r>
            <a:r>
              <a:rPr lang="en-US" b="1" dirty="0"/>
              <a:t> API</a:t>
            </a:r>
            <a:r>
              <a:rPr lang="en-US" dirty="0"/>
              <a:t>, and disease data was collected from agricultural datasets such as </a:t>
            </a:r>
            <a:r>
              <a:rPr lang="en-US" b="1" dirty="0"/>
              <a:t>ICRISAT</a:t>
            </a:r>
            <a:r>
              <a:rPr lang="en-US" dirty="0"/>
              <a:t>.</a:t>
            </a:r>
          </a:p>
          <a:p>
            <a:r>
              <a:rPr lang="en-US" dirty="0"/>
              <a:t>The dataset contains four years of data from 2020 to 2023 for the Thanjavur region in Tamil Nadu. The features used in this project include temperature, humidity, rainfall, and wind speed.</a:t>
            </a:r>
          </a:p>
          <a:p>
            <a:r>
              <a:rPr lang="en-US" dirty="0"/>
              <a:t>These features were used to analyze climate patterns and their relationship with crop disease outbreaks.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825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A9F4B-4FBE-0241-E39F-01ED86AAD3BA}"/>
              </a:ext>
            </a:extLst>
          </p:cNvPr>
          <p:cNvSpPr>
            <a:spLocks noGrp="1"/>
          </p:cNvSpPr>
          <p:nvPr>
            <p:ph type="title"/>
          </p:nvPr>
        </p:nvSpPr>
        <p:spPr>
          <a:xfrm>
            <a:off x="587257" y="79989"/>
            <a:ext cx="10515600" cy="1325563"/>
          </a:xfrm>
        </p:spPr>
        <p:txBody>
          <a:bodyPr/>
          <a:lstStyle/>
          <a:p>
            <a:r>
              <a:rPr lang="en-IN" b="1" dirty="0"/>
              <a:t>Methodology</a:t>
            </a:r>
          </a:p>
        </p:txBody>
      </p:sp>
      <p:pic>
        <p:nvPicPr>
          <p:cNvPr id="5" name="Picture 4">
            <a:extLst>
              <a:ext uri="{FF2B5EF4-FFF2-40B4-BE49-F238E27FC236}">
                <a16:creationId xmlns:a16="http://schemas.microsoft.com/office/drawing/2014/main" id="{640E326B-6539-8233-858D-76491CDDF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2761" y="1002430"/>
            <a:ext cx="6440567" cy="3429937"/>
          </a:xfrm>
          <a:prstGeom prst="rect">
            <a:avLst/>
          </a:prstGeom>
        </p:spPr>
      </p:pic>
      <p:sp>
        <p:nvSpPr>
          <p:cNvPr id="6" name="TextBox 5">
            <a:extLst>
              <a:ext uri="{FF2B5EF4-FFF2-40B4-BE49-F238E27FC236}">
                <a16:creationId xmlns:a16="http://schemas.microsoft.com/office/drawing/2014/main" id="{FEA5756C-5225-3352-AAB4-6144B90C3F0F}"/>
              </a:ext>
            </a:extLst>
          </p:cNvPr>
          <p:cNvSpPr txBox="1"/>
          <p:nvPr/>
        </p:nvSpPr>
        <p:spPr>
          <a:xfrm>
            <a:off x="678205" y="4562167"/>
            <a:ext cx="1033370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The methodology of this project consists of several stages. First, data was collected from different sources. Then, data preprocessing was performed to clean the dataset and handle missing values.</a:t>
            </a:r>
          </a:p>
          <a:p>
            <a:pPr marL="285750" indent="-285750">
              <a:buFont typeface="Arial" panose="020B0604020202020204" pitchFamily="34" charset="0"/>
              <a:buChar char="•"/>
            </a:pPr>
            <a:r>
              <a:rPr lang="en-US" dirty="0"/>
              <a:t>Next, Exploratory Data Analysis (EDA) and data visualization were performed to understand patterns and relationships between climate conditions and crop diseases.</a:t>
            </a:r>
          </a:p>
          <a:p>
            <a:pPr marL="285750" indent="-285750">
              <a:buFont typeface="Arial" panose="020B0604020202020204" pitchFamily="34" charset="0"/>
              <a:buChar char="•"/>
            </a:pPr>
            <a:r>
              <a:rPr lang="en-US" dirty="0"/>
              <a:t>Feature engineering was performed to create new features such as high humidity days and heavy rainfall days. Finally, a machine learning model (</a:t>
            </a:r>
            <a:r>
              <a:rPr lang="en-US" dirty="0" err="1"/>
              <a:t>XGBoost</a:t>
            </a:r>
            <a:r>
              <a:rPr lang="en-US" dirty="0"/>
              <a:t>) was trained to predict crop disease risk.</a:t>
            </a:r>
          </a:p>
          <a:p>
            <a:endParaRPr lang="en-IN" dirty="0"/>
          </a:p>
        </p:txBody>
      </p:sp>
    </p:spTree>
    <p:extLst>
      <p:ext uri="{BB962C8B-B14F-4D97-AF65-F5344CB8AC3E}">
        <p14:creationId xmlns:p14="http://schemas.microsoft.com/office/powerpoint/2010/main" val="319831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F7843-FEF8-4E41-961F-E1DB5E121E30}"/>
              </a:ext>
            </a:extLst>
          </p:cNvPr>
          <p:cNvSpPr>
            <a:spLocks noGrp="1"/>
          </p:cNvSpPr>
          <p:nvPr>
            <p:ph type="title"/>
          </p:nvPr>
        </p:nvSpPr>
        <p:spPr/>
        <p:txBody>
          <a:bodyPr/>
          <a:lstStyle/>
          <a:p>
            <a:r>
              <a:rPr lang="en-IN" b="1" dirty="0"/>
              <a:t>Exploratory</a:t>
            </a:r>
            <a:r>
              <a:rPr lang="en-IN" dirty="0"/>
              <a:t> </a:t>
            </a:r>
            <a:r>
              <a:rPr lang="en-IN" b="1" dirty="0"/>
              <a:t>Data</a:t>
            </a:r>
            <a:r>
              <a:rPr lang="en-IN" dirty="0"/>
              <a:t> </a:t>
            </a:r>
            <a:r>
              <a:rPr lang="en-IN" b="1" dirty="0"/>
              <a:t>Analysis</a:t>
            </a:r>
          </a:p>
        </p:txBody>
      </p:sp>
      <p:sp>
        <p:nvSpPr>
          <p:cNvPr id="3" name="Content Placeholder 2">
            <a:extLst>
              <a:ext uri="{FF2B5EF4-FFF2-40B4-BE49-F238E27FC236}">
                <a16:creationId xmlns:a16="http://schemas.microsoft.com/office/drawing/2014/main" id="{0448D588-070F-D42A-5191-73EA6593BF83}"/>
              </a:ext>
            </a:extLst>
          </p:cNvPr>
          <p:cNvSpPr>
            <a:spLocks noGrp="1"/>
          </p:cNvSpPr>
          <p:nvPr>
            <p:ph idx="1"/>
          </p:nvPr>
        </p:nvSpPr>
        <p:spPr/>
        <p:txBody>
          <a:bodyPr/>
          <a:lstStyle/>
          <a:p>
            <a:r>
              <a:rPr lang="en-US" dirty="0"/>
              <a:t>Exploratory Data Analysis was performed to understand the relationship between climate variables and crop disease outbreaks. From the analysis, it was observed that most disease outbreaks occur during the monsoon season.</a:t>
            </a:r>
          </a:p>
          <a:p>
            <a:r>
              <a:rPr lang="en-US" dirty="0"/>
              <a:t>High humidity and heavy rainfall were found to be the most important factors influencing crop diseases. Temperature also plays a role in disease development.</a:t>
            </a:r>
          </a:p>
          <a:p>
            <a:r>
              <a:rPr lang="en-US" dirty="0"/>
              <a:t>Correlation analysis showed that humidity and rainfall have a strong positive relationship with crop disease outbreaks.</a:t>
            </a:r>
          </a:p>
          <a:p>
            <a:endParaRPr lang="en-IN" dirty="0"/>
          </a:p>
        </p:txBody>
      </p:sp>
    </p:spTree>
    <p:extLst>
      <p:ext uri="{BB962C8B-B14F-4D97-AF65-F5344CB8AC3E}">
        <p14:creationId xmlns:p14="http://schemas.microsoft.com/office/powerpoint/2010/main" val="1000587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260A6-0E24-4F92-D45F-F1DD98E61E03}"/>
              </a:ext>
            </a:extLst>
          </p:cNvPr>
          <p:cNvSpPr>
            <a:spLocks noGrp="1"/>
          </p:cNvSpPr>
          <p:nvPr>
            <p:ph type="title"/>
          </p:nvPr>
        </p:nvSpPr>
        <p:spPr/>
        <p:txBody>
          <a:bodyPr/>
          <a:lstStyle/>
          <a:p>
            <a:r>
              <a:rPr lang="en-IN" b="1" dirty="0"/>
              <a:t>Visualizations</a:t>
            </a:r>
          </a:p>
        </p:txBody>
      </p:sp>
      <p:sp>
        <p:nvSpPr>
          <p:cNvPr id="3" name="Content Placeholder 2">
            <a:extLst>
              <a:ext uri="{FF2B5EF4-FFF2-40B4-BE49-F238E27FC236}">
                <a16:creationId xmlns:a16="http://schemas.microsoft.com/office/drawing/2014/main" id="{9BBC1AB0-BBCE-675E-8AC1-E0E3E41183D1}"/>
              </a:ext>
            </a:extLst>
          </p:cNvPr>
          <p:cNvSpPr>
            <a:spLocks noGrp="1"/>
          </p:cNvSpPr>
          <p:nvPr>
            <p:ph idx="1"/>
          </p:nvPr>
        </p:nvSpPr>
        <p:spPr/>
        <p:txBody>
          <a:bodyPr/>
          <a:lstStyle/>
          <a:p>
            <a:r>
              <a:rPr lang="en-US" dirty="0"/>
              <a:t>Various visualizations were created to understand the data clearly. Temperature trend graphs were used to analyze temperature changes over time. Rainfall graphs were used to identify monsoon patterns.</a:t>
            </a:r>
          </a:p>
          <a:p>
            <a:r>
              <a:rPr lang="en-US" dirty="0"/>
              <a:t>A correlation heatmap was created to show the relationship between climate variables and crop diseases. Disease distribution charts were created to show the percentage of low, medium, and high-risk cases.</a:t>
            </a:r>
          </a:p>
          <a:p>
            <a:r>
              <a:rPr lang="en-US" dirty="0"/>
              <a:t>These visualizations helped in identifying patterns and understanding the dataset better.</a:t>
            </a:r>
          </a:p>
          <a:p>
            <a:endParaRPr lang="en-IN" dirty="0"/>
          </a:p>
        </p:txBody>
      </p:sp>
    </p:spTree>
    <p:extLst>
      <p:ext uri="{BB962C8B-B14F-4D97-AF65-F5344CB8AC3E}">
        <p14:creationId xmlns:p14="http://schemas.microsoft.com/office/powerpoint/2010/main" val="1000483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368AD-1538-28B7-C02A-3698853E822C}"/>
              </a:ext>
            </a:extLst>
          </p:cNvPr>
          <p:cNvSpPr>
            <a:spLocks noGrp="1"/>
          </p:cNvSpPr>
          <p:nvPr>
            <p:ph type="title"/>
          </p:nvPr>
        </p:nvSpPr>
        <p:spPr/>
        <p:txBody>
          <a:bodyPr/>
          <a:lstStyle/>
          <a:p>
            <a:r>
              <a:rPr lang="en-IN" b="1" dirty="0"/>
              <a:t>Model</a:t>
            </a:r>
            <a:r>
              <a:rPr lang="en-IN" dirty="0"/>
              <a:t> </a:t>
            </a:r>
            <a:r>
              <a:rPr lang="en-IN" b="1" dirty="0"/>
              <a:t>Development</a:t>
            </a:r>
          </a:p>
        </p:txBody>
      </p:sp>
      <p:sp>
        <p:nvSpPr>
          <p:cNvPr id="3" name="Content Placeholder 2">
            <a:extLst>
              <a:ext uri="{FF2B5EF4-FFF2-40B4-BE49-F238E27FC236}">
                <a16:creationId xmlns:a16="http://schemas.microsoft.com/office/drawing/2014/main" id="{2A9EFF38-6E4A-279C-959F-E0841277B92E}"/>
              </a:ext>
            </a:extLst>
          </p:cNvPr>
          <p:cNvSpPr>
            <a:spLocks noGrp="1"/>
          </p:cNvSpPr>
          <p:nvPr>
            <p:ph idx="1"/>
          </p:nvPr>
        </p:nvSpPr>
        <p:spPr/>
        <p:txBody>
          <a:bodyPr/>
          <a:lstStyle/>
          <a:p>
            <a:r>
              <a:rPr lang="en-US" dirty="0"/>
              <a:t>In this project, the </a:t>
            </a:r>
            <a:r>
              <a:rPr lang="en-US" dirty="0" err="1"/>
              <a:t>XGBoost</a:t>
            </a:r>
            <a:r>
              <a:rPr lang="en-US" dirty="0"/>
              <a:t> machine learning algorithm was used to predict crop disease risk. The dataset was divided into training data and testing data using an 80:20 ratio.</a:t>
            </a:r>
          </a:p>
          <a:p>
            <a:r>
              <a:rPr lang="en-US" dirty="0"/>
              <a:t>The model was trained using climate features such as temperature, humidity, rainfall, and wind speed. The target variable was disease risk level, which was classified into Low, Medium, and High categories.</a:t>
            </a:r>
          </a:p>
          <a:p>
            <a:r>
              <a:rPr lang="en-US" dirty="0"/>
              <a:t>After training, the model was evaluated using accuracy and feature importance.</a:t>
            </a:r>
          </a:p>
          <a:p>
            <a:endParaRPr lang="en-IN" dirty="0"/>
          </a:p>
        </p:txBody>
      </p:sp>
    </p:spTree>
    <p:extLst>
      <p:ext uri="{BB962C8B-B14F-4D97-AF65-F5344CB8AC3E}">
        <p14:creationId xmlns:p14="http://schemas.microsoft.com/office/powerpoint/2010/main" val="2123185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829C-C65B-DE5F-8C90-AC2281FD6D1E}"/>
              </a:ext>
            </a:extLst>
          </p:cNvPr>
          <p:cNvSpPr>
            <a:spLocks noGrp="1"/>
          </p:cNvSpPr>
          <p:nvPr>
            <p:ph type="title"/>
          </p:nvPr>
        </p:nvSpPr>
        <p:spPr/>
        <p:txBody>
          <a:bodyPr/>
          <a:lstStyle/>
          <a:p>
            <a:r>
              <a:rPr lang="en-IN" b="1" dirty="0"/>
              <a:t>Results</a:t>
            </a:r>
          </a:p>
        </p:txBody>
      </p:sp>
      <p:sp>
        <p:nvSpPr>
          <p:cNvPr id="3" name="Content Placeholder 2">
            <a:extLst>
              <a:ext uri="{FF2B5EF4-FFF2-40B4-BE49-F238E27FC236}">
                <a16:creationId xmlns:a16="http://schemas.microsoft.com/office/drawing/2014/main" id="{EADA0FE1-A556-46F6-D8A2-D05DECF64CA3}"/>
              </a:ext>
            </a:extLst>
          </p:cNvPr>
          <p:cNvSpPr>
            <a:spLocks noGrp="1"/>
          </p:cNvSpPr>
          <p:nvPr>
            <p:ph idx="1"/>
          </p:nvPr>
        </p:nvSpPr>
        <p:spPr/>
        <p:txBody>
          <a:bodyPr/>
          <a:lstStyle/>
          <a:p>
            <a:r>
              <a:rPr lang="en-US" dirty="0"/>
              <a:t>The machine learning model achieved an accuracy of approximately 85% in predicting crop disease risk. Feature importance analysis showed that humidity is the most important factor affecting crop diseases, followed by rainfall.</a:t>
            </a:r>
          </a:p>
          <a:p>
            <a:r>
              <a:rPr lang="en-US" dirty="0"/>
              <a:t>The results also showed that the monsoon season has the highest disease risk due to high humidity and heavy rainfall.</a:t>
            </a:r>
          </a:p>
          <a:p>
            <a:r>
              <a:rPr lang="en-US" dirty="0"/>
              <a:t>This system can be used as an early warning system to help farmers take preventive measures and reduce crop loss.</a:t>
            </a:r>
          </a:p>
          <a:p>
            <a:pPr marL="0" indent="0">
              <a:buNone/>
            </a:pPr>
            <a:endParaRPr lang="en-IN" dirty="0"/>
          </a:p>
        </p:txBody>
      </p:sp>
    </p:spTree>
    <p:extLst>
      <p:ext uri="{BB962C8B-B14F-4D97-AF65-F5344CB8AC3E}">
        <p14:creationId xmlns:p14="http://schemas.microsoft.com/office/powerpoint/2010/main" val="3499602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F073-1845-C5B2-F7C1-0937C354D5A4}"/>
              </a:ext>
            </a:extLst>
          </p:cNvPr>
          <p:cNvSpPr>
            <a:spLocks noGrp="1"/>
          </p:cNvSpPr>
          <p:nvPr>
            <p:ph type="title"/>
          </p:nvPr>
        </p:nvSpPr>
        <p:spPr/>
        <p:txBody>
          <a:bodyPr/>
          <a:lstStyle/>
          <a:p>
            <a:r>
              <a:rPr lang="en-IN" b="1" dirty="0"/>
              <a:t>Conclusion and Future Work</a:t>
            </a:r>
          </a:p>
        </p:txBody>
      </p:sp>
      <p:sp>
        <p:nvSpPr>
          <p:cNvPr id="3" name="Content Placeholder 2">
            <a:extLst>
              <a:ext uri="{FF2B5EF4-FFF2-40B4-BE49-F238E27FC236}">
                <a16:creationId xmlns:a16="http://schemas.microsoft.com/office/drawing/2014/main" id="{59B22C0B-F084-D1B7-E8FD-1EE85279214C}"/>
              </a:ext>
            </a:extLst>
          </p:cNvPr>
          <p:cNvSpPr>
            <a:spLocks noGrp="1"/>
          </p:cNvSpPr>
          <p:nvPr>
            <p:ph idx="1"/>
          </p:nvPr>
        </p:nvSpPr>
        <p:spPr/>
        <p:txBody>
          <a:bodyPr>
            <a:normAutofit fontScale="92500" lnSpcReduction="10000"/>
          </a:bodyPr>
          <a:lstStyle/>
          <a:p>
            <a:r>
              <a:rPr lang="en-US" sz="2600" dirty="0"/>
              <a:t>In this project, a crop disease prediction system was developed using climate data and machine learning techniques. The model successfully predicted disease risk with good accuracy.</a:t>
            </a:r>
          </a:p>
          <a:p>
            <a:r>
              <a:rPr lang="en-US" sz="2600" dirty="0"/>
              <a:t>This project shows how data science can be used in agriculture to solve real-world problems.</a:t>
            </a:r>
          </a:p>
          <a:p>
            <a:r>
              <a:rPr lang="en-US" sz="2600" dirty="0"/>
              <a:t>In the future, this system can be improved by using real-time weather data, developing a mobile application for farmers, and expanding the system to support multiple crops and regions.</a:t>
            </a:r>
          </a:p>
          <a:p>
            <a:pPr marL="0" indent="0">
              <a:buNone/>
            </a:pPr>
            <a:endParaRPr lang="en-US" sz="2600" dirty="0"/>
          </a:p>
          <a:p>
            <a:r>
              <a:rPr lang="en-US" sz="2600" b="1" dirty="0"/>
              <a:t>Project GitHub Repository:</a:t>
            </a:r>
            <a:br>
              <a:rPr lang="en-US" sz="2600" dirty="0"/>
            </a:br>
            <a:r>
              <a:rPr lang="en-US" sz="2600" dirty="0">
                <a:hlinkClick r:id="rId2"/>
              </a:rPr>
              <a:t>https://github.com/akalyatamilvel/MiniProject_DS_AIML-A_2026_CropDiseaseForecast</a:t>
            </a:r>
            <a:endParaRPr lang="en-US" sz="2600" dirty="0"/>
          </a:p>
          <a:p>
            <a:endParaRPr lang="en-IN" dirty="0"/>
          </a:p>
        </p:txBody>
      </p:sp>
    </p:spTree>
    <p:extLst>
      <p:ext uri="{BB962C8B-B14F-4D97-AF65-F5344CB8AC3E}">
        <p14:creationId xmlns:p14="http://schemas.microsoft.com/office/powerpoint/2010/main" val="1896708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735</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CropDisease Forecast Predicting Crop Disease Outbreaks Using Climate Data</vt:lpstr>
      <vt:lpstr>Problem Statement</vt:lpstr>
      <vt:lpstr>Dataset</vt:lpstr>
      <vt:lpstr>Methodology</vt:lpstr>
      <vt:lpstr>Exploratory Data Analysis</vt:lpstr>
      <vt:lpstr>Visualizations</vt:lpstr>
      <vt:lpstr>Model Development</vt:lpstr>
      <vt:lpstr>Results</vt:lpstr>
      <vt:lpstr>Conclusion and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Sachitha ravichandran</dc:creator>
  <cp:lastModifiedBy>Sachitha ravichandran</cp:lastModifiedBy>
  <cp:revision>2</cp:revision>
  <dcterms:created xsi:type="dcterms:W3CDTF">2026-03-31T11:18:37Z</dcterms:created>
  <dcterms:modified xsi:type="dcterms:W3CDTF">2026-03-31T11:27:05Z</dcterms:modified>
</cp:coreProperties>
</file>